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2" r:id="rId7"/>
    <p:sldId id="260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575"/>
    <a:srgbClr val="F849C1"/>
    <a:srgbClr val="FFC943"/>
    <a:srgbClr val="F24822"/>
    <a:srgbClr val="FF9E42"/>
    <a:srgbClr val="F24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23582-A7DF-31BD-A2D8-5B56858D9A8A}" v="2" dt="2025-07-21T20:40:35.737"/>
    <p1510:client id="{8ACE9D47-1EEC-F02C-14B5-5D7ED46B7C81}" v="40" dt="2025-07-21T14:57:32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1D14-D368-4B3C-A291-158434B5A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44A6E-2041-46E4-AC47-DA09FC5A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D0A7-908B-4C11-9F3E-717FA007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03585-8BE8-432A-8A4D-818E6B26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7D5A6-F1BF-4FDD-BD79-754CA86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2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0783-1B11-4AC7-BBE2-048EF0CD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3E7D-8D38-4751-BA53-0F60E6D5D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B6967-A433-42C6-9E9A-FF7345A0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1473-1466-4173-8358-95B0445D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12ED-674A-4F5F-A3F1-80BF1FF4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8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D551-A2F6-4376-A3B4-A3C73047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9A924-005D-43F9-9A86-D2C974690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B983-71C0-4A41-AEDE-D497525E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C6D69-B088-4CF1-93AE-E038585A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FC453-4095-471B-BEA9-2EB7F930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9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18D4-4657-40C5-A43C-B0312930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3C566-EDC0-46EC-8F71-7579E384F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BDA95-EF91-4739-BAAF-7A85EDEA6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536BD-456E-4DCA-AB1F-AA8F0FA8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68B29-779E-49DD-B86A-4D34FD77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F783-4407-49F6-9EAC-46ADF91B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3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6B11-C6CD-490C-8857-94A66075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A341B-AB5F-4B98-BF0E-BA071BDF2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69D03-8383-4985-A1D7-F3174CDDC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10B91-E3E6-4129-A5A7-9B977C6FF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7F158-9FA6-4FB6-A4B4-8764A912C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73DCD-4189-4D29-9F0F-72B0F8B7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247DD-24A4-4EF4-9660-D54E10EE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CB84B-1324-45DD-8E9E-3AA6066A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E8F6-5297-4FB5-9809-A0107672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DF1C4-49B5-4B45-8023-5CF6835F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B531A-CAF6-48D5-863C-34A5E1E8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81936-04B7-4EC8-AEC1-5720A87C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0E8BD-6B3B-41F1-BEAE-932AB292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8AF11-CF1D-46D4-9F1F-780E983A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8CB3B-0953-4A51-902A-56F26F58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3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20F6-2F97-427C-8829-C6C20246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1D72D-0406-4D44-B65D-4F8A0450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BE711-225B-402F-AC62-B5E0D06AA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4499F-54A9-481C-9D81-1DD443B0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90F34-736A-4662-9780-274BF773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AB91-7984-42C3-A47C-B6C8F6AF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7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677E-6237-4908-95D9-41F8CA8C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8F10D-7E40-43EB-8A4F-2BAD31B38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C382A-7B98-4E75-9400-AB770C235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C959E-A608-4D31-8CC6-0A8CF226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04B72-2DDC-444C-AE12-2D397F7C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38185-773A-4F6B-923F-EAEFBF4E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8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0350-6560-4BB8-9E05-2676E07D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88C6A-71C7-4F52-94AD-E63076BCE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1D34-4ACA-431D-B406-E5CB659A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1AC99-912D-419B-9671-2CE1CF21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B58B-9E65-43B3-9355-83899E7B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3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EEEE6-24BB-44A4-8153-8ACC50A68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9739F-74EB-42D1-BD29-CDAC65ED2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FBA53-0D6C-4288-AAEB-2981DBA5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2438F-1FC9-4BBF-9F63-07C29F00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F3A8-6563-4352-9ADA-6E67C83E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3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79490-4873-4EB6-BD61-410752BD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D6B8B-CB19-4A73-AFAE-BD2AFC2C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48D6-8FFC-4C83-9809-5CF6ED6DE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D0493-3A46-4D46-A577-47857228053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E918-FF11-48D0-9B54-CED6C8FF4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7090B-0F7D-46D2-8077-F15BF1660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DFEDC-4FA0-40F5-A3AF-BA1D788A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7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DDA7FFF-41F4-41B2-8227-DFCBE4F496D9}"/>
              </a:ext>
            </a:extLst>
          </p:cNvPr>
          <p:cNvGrpSpPr/>
          <p:nvPr/>
        </p:nvGrpSpPr>
        <p:grpSpPr>
          <a:xfrm>
            <a:off x="3697248" y="3161207"/>
            <a:ext cx="4368316" cy="493558"/>
            <a:chOff x="1847085" y="1853759"/>
            <a:chExt cx="4383383" cy="102774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564682-EAB3-4A2B-A6A6-B190A42C4FDA}"/>
                </a:ext>
              </a:extLst>
            </p:cNvPr>
            <p:cNvSpPr/>
            <p:nvPr/>
          </p:nvSpPr>
          <p:spPr>
            <a:xfrm>
              <a:off x="1847085" y="1859532"/>
              <a:ext cx="4383383" cy="10219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64DB26-7424-4BF4-B116-E94251C3FA90}"/>
                </a:ext>
              </a:extLst>
            </p:cNvPr>
            <p:cNvSpPr/>
            <p:nvPr/>
          </p:nvSpPr>
          <p:spPr>
            <a:xfrm>
              <a:off x="1847085" y="1853759"/>
              <a:ext cx="48951" cy="102197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94092" y="1997569"/>
            <a:ext cx="106038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Classification of Oil</a:t>
            </a:r>
          </a:p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Wells in the DSEATS Field Using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84823-C18E-48EB-9286-BEBA7449E252}"/>
              </a:ext>
            </a:extLst>
          </p:cNvPr>
          <p:cNvSpPr txBox="1"/>
          <p:nvPr/>
        </p:nvSpPr>
        <p:spPr>
          <a:xfrm>
            <a:off x="4151778" y="3221934"/>
            <a:ext cx="3459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498DB"/>
                </a:solidFill>
                <a:effectLst/>
                <a:latin typeface="-apple-system"/>
              </a:rPr>
              <a:t>SPE DSEATS Africa Datathon 2025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23D74-8DBC-468B-85F9-26D3EE58BFA8}"/>
              </a:ext>
            </a:extLst>
          </p:cNvPr>
          <p:cNvSpPr txBox="1"/>
          <p:nvPr/>
        </p:nvSpPr>
        <p:spPr>
          <a:xfrm>
            <a:off x="1195962" y="4576223"/>
            <a:ext cx="370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Name: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Hussaini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 Ahmed 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Number: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gtree"/>
              </a:rPr>
              <a:t>5638753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Section: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Abuja Section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Figtree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School: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Federal University of Technology, Minna (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FUTMinna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)</a:t>
            </a:r>
          </a:p>
        </p:txBody>
      </p:sp>
      <p:pic>
        <p:nvPicPr>
          <p:cNvPr id="1026" name="Picture 2" descr="Society Of Petroleum Engineers-UMaT Student Chapter">
            <a:extLst>
              <a:ext uri="{FF2B5EF4-FFF2-40B4-BE49-F238E27FC236}">
                <a16:creationId xmlns:a16="http://schemas.microsoft.com/office/drawing/2014/main" id="{7E9C16C6-4FA5-4C34-B3D3-2820B753D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6" b="29466"/>
          <a:stretch/>
        </p:blipFill>
        <p:spPr bwMode="auto">
          <a:xfrm>
            <a:off x="4809844" y="110836"/>
            <a:ext cx="214312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412B23-0FCB-4AB9-9B6F-2060D0E5D5C0}"/>
              </a:ext>
            </a:extLst>
          </p:cNvPr>
          <p:cNvSpPr txBox="1"/>
          <p:nvPr/>
        </p:nvSpPr>
        <p:spPr>
          <a:xfrm>
            <a:off x="2833405" y="3709948"/>
            <a:ext cx="6096000" cy="74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0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Team Petromind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F8F55-1208-40EE-8E74-9DE318FF38B2}"/>
              </a:ext>
            </a:extLst>
          </p:cNvPr>
          <p:cNvSpPr txBox="1"/>
          <p:nvPr/>
        </p:nvSpPr>
        <p:spPr>
          <a:xfrm>
            <a:off x="2633659" y="59526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  <a:p>
            <a:pPr algn="ctr"/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21/07/2025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4CCABF-724F-413E-93EF-8B673CAD4D26}"/>
              </a:ext>
            </a:extLst>
          </p:cNvPr>
          <p:cNvSpPr txBox="1"/>
          <p:nvPr/>
        </p:nvSpPr>
        <p:spPr>
          <a:xfrm>
            <a:off x="4712571" y="4535313"/>
            <a:ext cx="370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Name: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Nunsi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Shiaki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Number: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5887756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Section: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Lagos Section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School: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Federal University of Technology, Akure (FUTA)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C07F4-093E-4AAD-84AE-F8B2170E50B5}"/>
              </a:ext>
            </a:extLst>
          </p:cNvPr>
          <p:cNvSpPr txBox="1"/>
          <p:nvPr/>
        </p:nvSpPr>
        <p:spPr>
          <a:xfrm>
            <a:off x="8416641" y="4576223"/>
            <a:ext cx="370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Name: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Nasirdeen Shuaib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Number: 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5445518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Section: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SPE Abuja Section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School: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Federal University of Technology, Minna (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FUTMinna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955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829868" y="316500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Outline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/>
          <p:nvPr/>
        </p:nvCxnSpPr>
        <p:spPr>
          <a:xfrm>
            <a:off x="928563" y="925402"/>
            <a:ext cx="1036248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6777542-E842-450F-ADA8-6E7920A65A65}"/>
              </a:ext>
            </a:extLst>
          </p:cNvPr>
          <p:cNvSpPr txBox="1"/>
          <p:nvPr/>
        </p:nvSpPr>
        <p:spPr>
          <a:xfrm>
            <a:off x="6584078" y="1996994"/>
            <a:ext cx="14421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49378-A523-45F9-8FEC-0AAC715C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301" y="1524000"/>
            <a:ext cx="1641761" cy="412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4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94093" y="201127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2C3E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Problem Workflow</a:t>
            </a:r>
            <a:endParaRPr lang="en-US" sz="3200" b="1" i="0" dirty="0">
              <a:solidFill>
                <a:srgbClr val="2C3E5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/>
          <p:nvPr/>
        </p:nvCxnSpPr>
        <p:spPr>
          <a:xfrm>
            <a:off x="914758" y="796903"/>
            <a:ext cx="1036248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6777542-E842-450F-ADA8-6E7920A65A65}"/>
              </a:ext>
            </a:extLst>
          </p:cNvPr>
          <p:cNvSpPr txBox="1"/>
          <p:nvPr/>
        </p:nvSpPr>
        <p:spPr>
          <a:xfrm>
            <a:off x="6584078" y="1996994"/>
            <a:ext cx="14421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Workflow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ABE74A-A685-47DB-9ECC-290B5E51D3CC}"/>
              </a:ext>
            </a:extLst>
          </p:cNvPr>
          <p:cNvGrpSpPr/>
          <p:nvPr/>
        </p:nvGrpSpPr>
        <p:grpSpPr>
          <a:xfrm>
            <a:off x="741459" y="1135107"/>
            <a:ext cx="10470547" cy="513399"/>
            <a:chOff x="5663136" y="1888861"/>
            <a:chExt cx="12100257" cy="5933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988A8A-D234-44EA-AC5D-82283F2DD1BE}"/>
                </a:ext>
              </a:extLst>
            </p:cNvPr>
            <p:cNvSpPr txBox="1"/>
            <p:nvPr/>
          </p:nvSpPr>
          <p:spPr>
            <a:xfrm>
              <a:off x="6584078" y="1996994"/>
              <a:ext cx="14421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i="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Workflow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6AF1A-BD8E-4366-BD3A-5F80BB301575}"/>
                </a:ext>
              </a:extLst>
            </p:cNvPr>
            <p:cNvCxnSpPr>
              <a:cxnSpLocks/>
            </p:cNvCxnSpPr>
            <p:nvPr/>
          </p:nvCxnSpPr>
          <p:spPr>
            <a:xfrm>
              <a:off x="5723963" y="2178424"/>
              <a:ext cx="12039430" cy="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89933CC6-BAFE-400E-8C2C-D422EE618BFB}"/>
                </a:ext>
              </a:extLst>
            </p:cNvPr>
            <p:cNvSpPr/>
            <p:nvPr/>
          </p:nvSpPr>
          <p:spPr>
            <a:xfrm>
              <a:off x="10813080" y="1890604"/>
              <a:ext cx="551329" cy="551330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id="{635AF7CB-9864-4C9D-9E65-7BA60CF90C7F}"/>
                </a:ext>
              </a:extLst>
            </p:cNvPr>
            <p:cNvSpPr/>
            <p:nvPr/>
          </p:nvSpPr>
          <p:spPr>
            <a:xfrm>
              <a:off x="13141927" y="1903348"/>
              <a:ext cx="551329" cy="551330"/>
            </a:xfrm>
            <a:prstGeom prst="flowChartConnector">
              <a:avLst/>
            </a:prstGeom>
            <a:solidFill>
              <a:srgbClr val="66D5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1F2AF013-2AFC-4AF6-9872-4AA70BD9095D}"/>
                </a:ext>
              </a:extLst>
            </p:cNvPr>
            <p:cNvSpPr/>
            <p:nvPr/>
          </p:nvSpPr>
          <p:spPr>
            <a:xfrm>
              <a:off x="14721491" y="1930838"/>
              <a:ext cx="551329" cy="551330"/>
            </a:xfrm>
            <a:prstGeom prst="flowChartConnector">
              <a:avLst/>
            </a:prstGeom>
            <a:solidFill>
              <a:srgbClr val="FFC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35CB3B-0CC5-49E5-9CD3-6F5D007CC03E}"/>
                </a:ext>
              </a:extLst>
            </p:cNvPr>
            <p:cNvSpPr txBox="1"/>
            <p:nvPr/>
          </p:nvSpPr>
          <p:spPr>
            <a:xfrm>
              <a:off x="10523474" y="1981603"/>
              <a:ext cx="299197" cy="3693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-apple-system"/>
                </a:rPr>
                <a:t>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0" name="Flowchart: Connector 49">
              <a:extLst>
                <a:ext uri="{FF2B5EF4-FFF2-40B4-BE49-F238E27FC236}">
                  <a16:creationId xmlns:a16="http://schemas.microsoft.com/office/drawing/2014/main" id="{D9494A7C-CC6D-409B-BED7-EE2BBA242767}"/>
                </a:ext>
              </a:extLst>
            </p:cNvPr>
            <p:cNvSpPr/>
            <p:nvPr/>
          </p:nvSpPr>
          <p:spPr>
            <a:xfrm>
              <a:off x="8812518" y="1918400"/>
              <a:ext cx="551329" cy="551330"/>
            </a:xfrm>
            <a:prstGeom prst="flowChartConnector">
              <a:avLst/>
            </a:prstGeom>
            <a:solidFill>
              <a:srgbClr val="F24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82D9B4D2-D8A2-4282-97C8-FBEEF7B36CF0}"/>
                </a:ext>
              </a:extLst>
            </p:cNvPr>
            <p:cNvSpPr/>
            <p:nvPr/>
          </p:nvSpPr>
          <p:spPr>
            <a:xfrm>
              <a:off x="5663136" y="1890604"/>
              <a:ext cx="551329" cy="551330"/>
            </a:xfrm>
            <a:prstGeom prst="flowChartConnector">
              <a:avLst/>
            </a:prstGeom>
            <a:solidFill>
              <a:srgbClr val="FF9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52A5BB9F-1E4B-48A5-8664-2C2C805C3708}"/>
                </a:ext>
              </a:extLst>
            </p:cNvPr>
            <p:cNvSpPr/>
            <p:nvPr/>
          </p:nvSpPr>
          <p:spPr>
            <a:xfrm>
              <a:off x="16338598" y="1888861"/>
              <a:ext cx="551329" cy="551330"/>
            </a:xfrm>
            <a:prstGeom prst="flowChartConnector">
              <a:avLst/>
            </a:prstGeom>
            <a:solidFill>
              <a:srgbClr val="F849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EAE03D4E-9ABB-44C4-8C24-79197325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43" y="1838695"/>
            <a:ext cx="10603811" cy="492731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518F75B-E7DA-488C-89BC-241E49838E2C}"/>
              </a:ext>
            </a:extLst>
          </p:cNvPr>
          <p:cNvSpPr txBox="1"/>
          <p:nvPr/>
        </p:nvSpPr>
        <p:spPr>
          <a:xfrm>
            <a:off x="817993" y="1172195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AB37DB-C904-4D1E-A5C0-9DBF841231E0}"/>
              </a:ext>
            </a:extLst>
          </p:cNvPr>
          <p:cNvSpPr txBox="1"/>
          <p:nvPr/>
        </p:nvSpPr>
        <p:spPr>
          <a:xfrm>
            <a:off x="3538320" y="1212173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B93117-B500-4812-BD87-2F0A59A2AFA4}"/>
              </a:ext>
            </a:extLst>
          </p:cNvPr>
          <p:cNvSpPr txBox="1"/>
          <p:nvPr/>
        </p:nvSpPr>
        <p:spPr>
          <a:xfrm>
            <a:off x="5253958" y="1186067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DF9C67-4F97-4D5A-A2C7-E73A09B6CE66}"/>
              </a:ext>
            </a:extLst>
          </p:cNvPr>
          <p:cNvSpPr txBox="1"/>
          <p:nvPr/>
        </p:nvSpPr>
        <p:spPr>
          <a:xfrm>
            <a:off x="7305176" y="1201005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F69DD7-9843-486A-A083-B36B1A37BFF3}"/>
              </a:ext>
            </a:extLst>
          </p:cNvPr>
          <p:cNvSpPr txBox="1"/>
          <p:nvPr/>
        </p:nvSpPr>
        <p:spPr>
          <a:xfrm>
            <a:off x="8678791" y="1214540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A85C9A-A271-4928-B1C8-7B8E3972855A}"/>
              </a:ext>
            </a:extLst>
          </p:cNvPr>
          <p:cNvSpPr txBox="1"/>
          <p:nvPr/>
        </p:nvSpPr>
        <p:spPr>
          <a:xfrm>
            <a:off x="10079896" y="1201005"/>
            <a:ext cx="27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69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EDA - Field Overview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95251-F34D-4340-8036-9C1A5E8810E6}"/>
              </a:ext>
            </a:extLst>
          </p:cNvPr>
          <p:cNvSpPr txBox="1"/>
          <p:nvPr/>
        </p:nvSpPr>
        <p:spPr>
          <a:xfrm>
            <a:off x="266582" y="1440235"/>
            <a:ext cx="5829418" cy="326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34495E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Dataset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A1A"/>
                </a:solidFill>
                <a:effectLst/>
                <a:latin typeface="-apple-system"/>
              </a:rPr>
              <a:t>20 wells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production history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A1A1A"/>
                </a:solidFill>
                <a:effectLst/>
                <a:latin typeface="-apple-system"/>
              </a:rPr>
              <a:t>Production date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ranges from </a:t>
            </a:r>
            <a:r>
              <a:rPr lang="en-US" b="1" i="0" dirty="0">
                <a:solidFill>
                  <a:srgbClr val="1A1A1A"/>
                </a:solidFill>
                <a:effectLst/>
                <a:latin typeface="-apple-system"/>
              </a:rPr>
              <a:t>2011-02-17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 to </a:t>
            </a:r>
            <a:r>
              <a:rPr lang="en-US" b="1" i="0" dirty="0">
                <a:solidFill>
                  <a:srgbClr val="1A1A1A"/>
                </a:solidFill>
                <a:effectLst/>
                <a:latin typeface="-apple-system"/>
              </a:rPr>
              <a:t>2016-08-12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A1A"/>
                </a:solidFill>
                <a:effectLst/>
                <a:latin typeface="-apple-system"/>
              </a:rPr>
              <a:t>5 reservoirs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with distinct PVT properties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Cumulative</a:t>
            </a:r>
            <a:r>
              <a:rPr lang="en-US" dirty="0">
                <a:solidFill>
                  <a:srgbClr val="1A1A1A"/>
                </a:solidFill>
                <a:latin typeface="-apple-system"/>
              </a:rPr>
              <a:t> O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il Prod (STB): 0.0 - 1129301.0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Cumulative Formation</a:t>
            </a:r>
            <a:r>
              <a:rPr lang="en-US" dirty="0">
                <a:solidFill>
                  <a:srgbClr val="1A1A1A"/>
                </a:solidFill>
                <a:latin typeface="-apple-system"/>
              </a:rPr>
              <a:t>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Gas</a:t>
            </a:r>
            <a:r>
              <a:rPr lang="en-US" dirty="0">
                <a:solidFill>
                  <a:srgbClr val="1A1A1A"/>
                </a:solidFill>
                <a:latin typeface="-apple-system"/>
              </a:rPr>
              <a:t>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Prod (MSCF): 0.0 - 1458660.0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Cumulative Total Gas Prod (MSCF): 0.0 - 1458660.0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Cumulative Water</a:t>
            </a:r>
            <a:r>
              <a:rPr lang="en-US" dirty="0">
                <a:solidFill>
                  <a:srgbClr val="1A1A1A"/>
                </a:solidFill>
                <a:latin typeface="-apple-system"/>
              </a:rPr>
              <a:t> 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Prod (BBL): 0.0 - 1499262.0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A004C5-DF21-4CC9-A9DA-11B5638080D4}"/>
              </a:ext>
            </a:extLst>
          </p:cNvPr>
          <p:cNvGrpSpPr/>
          <p:nvPr/>
        </p:nvGrpSpPr>
        <p:grpSpPr>
          <a:xfrm>
            <a:off x="266582" y="5006409"/>
            <a:ext cx="5413782" cy="1856807"/>
            <a:chOff x="1847085" y="1853759"/>
            <a:chExt cx="4383383" cy="102774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88A098-C6EB-4C3C-95FC-BF3089607C80}"/>
                </a:ext>
              </a:extLst>
            </p:cNvPr>
            <p:cNvSpPr/>
            <p:nvPr/>
          </p:nvSpPr>
          <p:spPr>
            <a:xfrm>
              <a:off x="1847085" y="1859532"/>
              <a:ext cx="4383383" cy="10219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DFBDA1A-E9FF-47BC-89DF-CF526D1182CC}"/>
                </a:ext>
              </a:extLst>
            </p:cNvPr>
            <p:cNvSpPr/>
            <p:nvPr/>
          </p:nvSpPr>
          <p:spPr>
            <a:xfrm>
              <a:off x="1847085" y="1853759"/>
              <a:ext cx="48951" cy="102197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C91755-25BC-41C5-946F-278B8BC4B029}"/>
              </a:ext>
            </a:extLst>
          </p:cNvPr>
          <p:cNvSpPr txBox="1"/>
          <p:nvPr/>
        </p:nvSpPr>
        <p:spPr>
          <a:xfrm>
            <a:off x="5791878" y="1190530"/>
            <a:ext cx="4599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34495E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Reservoir Pressure comparison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118872-58F9-4EDE-861F-C5D96B8A9E3D}"/>
              </a:ext>
            </a:extLst>
          </p:cNvPr>
          <p:cNvSpPr txBox="1"/>
          <p:nvPr/>
        </p:nvSpPr>
        <p:spPr>
          <a:xfrm>
            <a:off x="610169" y="5103197"/>
            <a:ext cx="189939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2C3E50"/>
                </a:solidFill>
                <a:effectLst/>
                <a:latin typeface="-apple-system"/>
              </a:rPr>
              <a:t>7,955</a:t>
            </a:r>
          </a:p>
          <a:p>
            <a:pPr algn="l"/>
            <a:r>
              <a:rPr lang="en-US" b="0" i="0" dirty="0">
                <a:solidFill>
                  <a:srgbClr val="666666"/>
                </a:solidFill>
                <a:effectLst/>
                <a:latin typeface="-apple-system"/>
              </a:rPr>
              <a:t>Total Records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2DE175E-EE2F-4558-AB48-EF456F1F0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013" y="1767192"/>
            <a:ext cx="5312246" cy="30729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30C2169B-58F0-4B02-9749-F382C70500E7}"/>
              </a:ext>
            </a:extLst>
          </p:cNvPr>
          <p:cNvSpPr/>
          <p:nvPr/>
        </p:nvSpPr>
        <p:spPr>
          <a:xfrm>
            <a:off x="6173013" y="5128215"/>
            <a:ext cx="5312245" cy="11965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27F71F-384B-456C-8561-01788F51C7C1}"/>
              </a:ext>
            </a:extLst>
          </p:cNvPr>
          <p:cNvSpPr txBox="1"/>
          <p:nvPr/>
        </p:nvSpPr>
        <p:spPr>
          <a:xfrm>
            <a:off x="6292346" y="5221751"/>
            <a:ext cx="51097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chart compares initial, bubble point, and current reservoir pressures for all reservoirs. ACHI, KEMA, and JANI remain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undersaturated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while MAKO and DEPU are now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saturated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as their initial pressures are at bubble point levels.</a:t>
            </a:r>
            <a:endParaRPr lang="en-US" sz="14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-apple-system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32F774-8851-4AFA-845B-B44F9C0E809A}"/>
              </a:ext>
            </a:extLst>
          </p:cNvPr>
          <p:cNvSpPr txBox="1"/>
          <p:nvPr/>
        </p:nvSpPr>
        <p:spPr>
          <a:xfrm>
            <a:off x="610169" y="5924652"/>
            <a:ext cx="272027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2C3E50"/>
                </a:solidFill>
                <a:effectLst/>
                <a:latin typeface="-apple-system"/>
              </a:rPr>
              <a:t>13</a:t>
            </a:r>
          </a:p>
          <a:p>
            <a:pPr algn="l"/>
            <a:r>
              <a:rPr lang="en-US" dirty="0">
                <a:solidFill>
                  <a:srgbClr val="666666"/>
                </a:solidFill>
                <a:latin typeface="-apple-system"/>
              </a:rPr>
              <a:t>Initial Parameters Tracked</a:t>
            </a:r>
            <a:endParaRPr lang="en-US" b="0" i="0" dirty="0">
              <a:solidFill>
                <a:srgbClr val="6666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7237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ECE53BCE-79D9-419B-A1F9-71642AE8CBAF}"/>
              </a:ext>
            </a:extLst>
          </p:cNvPr>
          <p:cNvSpPr/>
          <p:nvPr/>
        </p:nvSpPr>
        <p:spPr>
          <a:xfrm>
            <a:off x="7495310" y="1108461"/>
            <a:ext cx="4224598" cy="27661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EDA - Production Profiles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3F7CA6A-CD76-4DB6-87B1-A7B51C01AD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182"/>
          <a:stretch/>
        </p:blipFill>
        <p:spPr>
          <a:xfrm>
            <a:off x="5128377" y="4001443"/>
            <a:ext cx="6591531" cy="276615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2329A97-F494-444C-AE76-4BE32DDD2F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182"/>
          <a:stretch/>
        </p:blipFill>
        <p:spPr>
          <a:xfrm>
            <a:off x="764196" y="1117951"/>
            <a:ext cx="6591531" cy="276615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DE0124D-F8B4-43F6-AB5D-1A86A064C06C}"/>
              </a:ext>
            </a:extLst>
          </p:cNvPr>
          <p:cNvSpPr txBox="1"/>
          <p:nvPr/>
        </p:nvSpPr>
        <p:spPr>
          <a:xfrm>
            <a:off x="7604267" y="1178905"/>
            <a:ext cx="3823537" cy="26442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4495E"/>
                </a:solidFill>
                <a:latin typeface="Poppins"/>
                <a:cs typeface="Poppins"/>
              </a:rPr>
              <a:t>Cumulative</a:t>
            </a:r>
            <a:r>
              <a:rPr lang="en-US" sz="1400" b="1" i="0" dirty="0">
                <a:solidFill>
                  <a:srgbClr val="34495E"/>
                </a:solidFill>
                <a:effectLst/>
                <a:latin typeface="Poppins"/>
                <a:cs typeface="Poppins"/>
              </a:rPr>
              <a:t> Production</a:t>
            </a:r>
            <a:endParaRPr lang="en-US" sz="1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50000"/>
              </a:lnSpc>
            </a:pPr>
            <a:r>
              <a:rPr lang="en-US" sz="1400" dirty="0"/>
              <a:t>This multi-well comparison shows cumulative oil, formation gas, total gas, and water production over time. Wells #2, #5, and #7 show significant water production (red line). Well #8 shows a notable gap between total gas (blue) and formation gas (orange), suggesting  gas injection for artificial lift.</a:t>
            </a:r>
            <a:endParaRPr lang="en-US" sz="1200" b="0" i="0" dirty="0">
              <a:solidFill>
                <a:srgbClr val="1A1A1A"/>
              </a:solidFill>
              <a:effectLst/>
              <a:latin typeface="-apple-system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22661A-ABE2-49C4-B550-1EC6FC053CEC}"/>
              </a:ext>
            </a:extLst>
          </p:cNvPr>
          <p:cNvSpPr/>
          <p:nvPr/>
        </p:nvSpPr>
        <p:spPr>
          <a:xfrm>
            <a:off x="764196" y="4009676"/>
            <a:ext cx="4086522" cy="27661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CE4C22-D9B0-46B0-9861-CEC572526E47}"/>
              </a:ext>
            </a:extLst>
          </p:cNvPr>
          <p:cNvSpPr txBox="1"/>
          <p:nvPr/>
        </p:nvSpPr>
        <p:spPr>
          <a:xfrm>
            <a:off x="895688" y="4123352"/>
            <a:ext cx="3823537" cy="232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0" dirty="0">
                <a:solidFill>
                  <a:srgbClr val="34495E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Daily Production Rates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/>
              <a:t>This multi-well comparison shows daily oil, formation gas, total gas, and water production over time. e.g. Well #2 shows extreme volatility with spikes reaching 1500 STB/day, suggesting operational issues or frequent shut-ins. Well #1 show clear declining trends in oil production.</a:t>
            </a:r>
            <a:endParaRPr lang="en-US" sz="1200" b="0" i="0" dirty="0">
              <a:solidFill>
                <a:srgbClr val="1A1A1A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8610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Methodology - Classification Framework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ACD56F-B4DF-4C77-A88B-D7ABC100A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98866"/>
              </p:ext>
            </p:extLst>
          </p:nvPr>
        </p:nvGraphicFramePr>
        <p:xfrm>
          <a:off x="687183" y="2980074"/>
          <a:ext cx="10817634" cy="3582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878">
                  <a:extLst>
                    <a:ext uri="{9D8B030D-6E8A-4147-A177-3AD203B41FA5}">
                      <a16:colId xmlns:a16="http://schemas.microsoft.com/office/drawing/2014/main" val="2101989647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2823894337"/>
                    </a:ext>
                  </a:extLst>
                </a:gridCol>
                <a:gridCol w="3605878">
                  <a:extLst>
                    <a:ext uri="{9D8B030D-6E8A-4147-A177-3AD203B41FA5}">
                      <a16:colId xmlns:a16="http://schemas.microsoft.com/office/drawing/2014/main" val="1135588901"/>
                    </a:ext>
                  </a:extLst>
                </a:gridCol>
              </a:tblGrid>
              <a:tr h="355278">
                <a:tc>
                  <a:txBody>
                    <a:bodyPr/>
                    <a:lstStyle/>
                    <a:p>
                      <a:r>
                        <a:rPr lang="en-US" sz="1600" dirty="0"/>
                        <a:t>Parameter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Approach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Output/Classification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497099"/>
                  </a:ext>
                </a:extLst>
              </a:tr>
              <a:tr h="613662">
                <a:tc>
                  <a:txBody>
                    <a:bodyPr/>
                    <a:lstStyle/>
                    <a:p>
                      <a:r>
                        <a:rPr lang="en-US" sz="1600" dirty="0"/>
                        <a:t>Reservoir 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Pressure differential analysis (≤200 psi criterion)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Match well BHFP to reservoir pressure≤200 psi differential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537672"/>
                  </a:ext>
                </a:extLst>
              </a:tr>
              <a:tr h="613662">
                <a:tc>
                  <a:txBody>
                    <a:bodyPr/>
                    <a:lstStyle/>
                    <a:p>
                      <a:r>
                        <a:rPr lang="en-US" sz="1600" dirty="0"/>
                        <a:t>Reservoir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Compare initial pressure vs bubble point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Saturated / Undersaturated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242068"/>
                  </a:ext>
                </a:extLst>
              </a:tr>
              <a:tr h="355278">
                <a:tc>
                  <a:txBody>
                    <a:bodyPr/>
                    <a:lstStyle/>
                    <a:p>
                      <a:r>
                        <a:rPr lang="en-US" sz="1600"/>
                        <a:t>Well Type (NF/GL)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Multi-indicator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Identify Natural Flow (NF) vs Gas Lift (GL)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116220"/>
                  </a:ext>
                </a:extLst>
              </a:tr>
              <a:tr h="355278">
                <a:tc>
                  <a:txBody>
                    <a:bodyPr/>
                    <a:lstStyle/>
                    <a:p>
                      <a:r>
                        <a:rPr lang="en-US" sz="1600"/>
                        <a:t>Production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Detect &gt;50% production drops in 3-6 month 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Classify as Steady vs Unsteady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266764"/>
                  </a:ext>
                </a:extLst>
              </a:tr>
              <a:tr h="355278">
                <a:tc>
                  <a:txBody>
                    <a:bodyPr/>
                    <a:lstStyle/>
                    <a:p>
                      <a:r>
                        <a:rPr lang="en-US" sz="1600"/>
                        <a:t>Formation GOR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Segmented trend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Categories: </a:t>
                      </a:r>
                      <a:r>
                        <a:rPr lang="en-US" sz="1600" dirty="0" err="1"/>
                        <a:t>bSolGOR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aSolGOR</a:t>
                      </a:r>
                      <a:r>
                        <a:rPr lang="en-US" sz="1600" dirty="0"/>
                        <a:t> / Combo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689729"/>
                  </a:ext>
                </a:extLst>
              </a:tr>
              <a:tr h="355278">
                <a:tc>
                  <a:txBody>
                    <a:bodyPr/>
                    <a:lstStyle/>
                    <a:p>
                      <a:r>
                        <a:rPr lang="en-US" sz="1600"/>
                        <a:t>Watercut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Time series 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Trend analysis: Flat / </a:t>
                      </a:r>
                      <a:r>
                        <a:rPr lang="en-US" sz="1600" dirty="0" err="1"/>
                        <a:t>Incr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Decr</a:t>
                      </a:r>
                      <a:r>
                        <a:rPr lang="en-US" sz="1600" dirty="0"/>
                        <a:t> / Combo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285080"/>
                  </a:ext>
                </a:extLst>
              </a:tr>
              <a:tr h="355278">
                <a:tc>
                  <a:txBody>
                    <a:bodyPr/>
                    <a:lstStyle/>
                    <a:p>
                      <a:r>
                        <a:rPr lang="en-US" sz="1600"/>
                        <a:t>PI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Robust regression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Trend analysis: Flat / </a:t>
                      </a:r>
                      <a:r>
                        <a:rPr lang="en-US" sz="1600" dirty="0" err="1"/>
                        <a:t>Incr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Decr</a:t>
                      </a:r>
                      <a:r>
                        <a:rPr lang="en-US" sz="1600" dirty="0"/>
                        <a:t> / Combo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492704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FE60E46-A3E5-4BDF-95C1-EF0A9FC28EA5}"/>
              </a:ext>
            </a:extLst>
          </p:cNvPr>
          <p:cNvGrpSpPr/>
          <p:nvPr/>
        </p:nvGrpSpPr>
        <p:grpSpPr>
          <a:xfrm>
            <a:off x="764194" y="1274425"/>
            <a:ext cx="10817635" cy="600379"/>
            <a:chOff x="5723963" y="1898568"/>
            <a:chExt cx="11013088" cy="60037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36027C-0141-4832-80A0-8C22F19A3D2D}"/>
                </a:ext>
              </a:extLst>
            </p:cNvPr>
            <p:cNvSpPr txBox="1"/>
            <p:nvPr/>
          </p:nvSpPr>
          <p:spPr>
            <a:xfrm>
              <a:off x="6584078" y="1996994"/>
              <a:ext cx="14421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i="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Workflow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03740F2-11E0-4FCC-9167-014BCB500646}"/>
                </a:ext>
              </a:extLst>
            </p:cNvPr>
            <p:cNvCxnSpPr>
              <a:cxnSpLocks/>
            </p:cNvCxnSpPr>
            <p:nvPr/>
          </p:nvCxnSpPr>
          <p:spPr>
            <a:xfrm>
              <a:off x="5723963" y="2178424"/>
              <a:ext cx="11013088" cy="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41054D9-5ACF-4D74-B038-35931C28B385}"/>
                </a:ext>
              </a:extLst>
            </p:cNvPr>
            <p:cNvGrpSpPr/>
            <p:nvPr/>
          </p:nvGrpSpPr>
          <p:grpSpPr>
            <a:xfrm>
              <a:off x="6055378" y="1898568"/>
              <a:ext cx="4691608" cy="556109"/>
              <a:chOff x="5723963" y="2699504"/>
              <a:chExt cx="4691608" cy="556109"/>
            </a:xfrm>
          </p:grpSpPr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614E0B4E-7C4A-48F2-804E-10284B82E708}"/>
                  </a:ext>
                </a:extLst>
              </p:cNvPr>
              <p:cNvSpPr/>
              <p:nvPr/>
            </p:nvSpPr>
            <p:spPr>
              <a:xfrm>
                <a:off x="5723963" y="2699504"/>
                <a:ext cx="551329" cy="551329"/>
              </a:xfrm>
              <a:prstGeom prst="flowChartConnector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94BD0B5-26B6-4E1C-B71B-7B160968E36B}"/>
                  </a:ext>
                </a:extLst>
              </p:cNvPr>
              <p:cNvSpPr txBox="1"/>
              <p:nvPr/>
            </p:nvSpPr>
            <p:spPr>
              <a:xfrm>
                <a:off x="5840741" y="2790502"/>
                <a:ext cx="2480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1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178EE02-2CC1-493B-81AF-51337BD0E748}"/>
                  </a:ext>
                </a:extLst>
              </p:cNvPr>
              <p:cNvSpPr txBox="1"/>
              <p:nvPr/>
            </p:nvSpPr>
            <p:spPr>
              <a:xfrm>
                <a:off x="7945320" y="2886281"/>
                <a:ext cx="246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1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35B9B8-7686-481B-BB2C-02FFE2066721}"/>
                  </a:ext>
                </a:extLst>
              </p:cNvPr>
              <p:cNvSpPr txBox="1"/>
              <p:nvPr/>
            </p:nvSpPr>
            <p:spPr>
              <a:xfrm>
                <a:off x="10169357" y="2835033"/>
                <a:ext cx="246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0" dirty="0">
                    <a:solidFill>
                      <a:schemeClr val="bg1"/>
                    </a:solidFill>
                    <a:effectLst/>
                    <a:latin typeface="-apple-system"/>
                  </a:rPr>
                  <a:t>1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63673F6D-3737-47CE-9EBB-B18F06C67FDD}"/>
                </a:ext>
              </a:extLst>
            </p:cNvPr>
            <p:cNvSpPr/>
            <p:nvPr/>
          </p:nvSpPr>
          <p:spPr>
            <a:xfrm>
              <a:off x="8190168" y="1932143"/>
              <a:ext cx="551329" cy="551329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8F7FAA-0368-4DDF-8D94-F88DB39B90E7}"/>
                </a:ext>
              </a:extLst>
            </p:cNvPr>
            <p:cNvSpPr txBox="1"/>
            <p:nvPr/>
          </p:nvSpPr>
          <p:spPr>
            <a:xfrm>
              <a:off x="9007114" y="2038617"/>
              <a:ext cx="2991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-apple-system"/>
                </a:rPr>
                <a:t>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B5209168-462D-4C87-9B0B-CBCFE666C301}"/>
                </a:ext>
              </a:extLst>
            </p:cNvPr>
            <p:cNvSpPr/>
            <p:nvPr/>
          </p:nvSpPr>
          <p:spPr>
            <a:xfrm>
              <a:off x="12540119" y="1932143"/>
              <a:ext cx="551329" cy="551329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C2A4B86F-CA41-43FF-883D-83725186CEBA}"/>
                </a:ext>
              </a:extLst>
            </p:cNvPr>
            <p:cNvSpPr/>
            <p:nvPr/>
          </p:nvSpPr>
          <p:spPr>
            <a:xfrm>
              <a:off x="10371886" y="1932143"/>
              <a:ext cx="551329" cy="551329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id="{37B9B5EC-7143-43C1-967E-1BA030D6E491}"/>
                </a:ext>
              </a:extLst>
            </p:cNvPr>
            <p:cNvSpPr/>
            <p:nvPr/>
          </p:nvSpPr>
          <p:spPr>
            <a:xfrm>
              <a:off x="14884581" y="1947618"/>
              <a:ext cx="551329" cy="551329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194747D-3DC2-4780-B22F-CCD1CE405006}"/>
              </a:ext>
            </a:extLst>
          </p:cNvPr>
          <p:cNvSpPr txBox="1"/>
          <p:nvPr/>
        </p:nvSpPr>
        <p:spPr>
          <a:xfrm>
            <a:off x="971581" y="2022574"/>
            <a:ext cx="1646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Processing</a:t>
            </a:r>
            <a:endParaRPr lang="en-US" sz="1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192FB8-986C-433A-966C-66158861F6C3}"/>
              </a:ext>
            </a:extLst>
          </p:cNvPr>
          <p:cNvSpPr txBox="1"/>
          <p:nvPr/>
        </p:nvSpPr>
        <p:spPr>
          <a:xfrm>
            <a:off x="3165613" y="2022574"/>
            <a:ext cx="1835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Engineer domain-specific features</a:t>
            </a:r>
            <a:endParaRPr lang="en-US" sz="1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41A831-A98B-4F47-8ADF-57CAF75A0972}"/>
              </a:ext>
            </a:extLst>
          </p:cNvPr>
          <p:cNvSpPr txBox="1"/>
          <p:nvPr/>
        </p:nvSpPr>
        <p:spPr>
          <a:xfrm>
            <a:off x="5175401" y="2022574"/>
            <a:ext cx="1835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Apply petroleum engineering principles</a:t>
            </a:r>
            <a:endParaRPr lang="en-US" sz="1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2EF641-156E-413A-B7F1-011112A33624}"/>
              </a:ext>
            </a:extLst>
          </p:cNvPr>
          <p:cNvSpPr txBox="1"/>
          <p:nvPr/>
        </p:nvSpPr>
        <p:spPr>
          <a:xfrm>
            <a:off x="7353278" y="2022574"/>
            <a:ext cx="1976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threshold-based classification rules</a:t>
            </a:r>
            <a:endParaRPr lang="en-US" sz="1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1487CC-50CC-4265-A60C-AD89ED950DF6}"/>
              </a:ext>
            </a:extLst>
          </p:cNvPr>
          <p:cNvSpPr txBox="1"/>
          <p:nvPr/>
        </p:nvSpPr>
        <p:spPr>
          <a:xfrm>
            <a:off x="9762235" y="2022574"/>
            <a:ext cx="1819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Machine Learning cross-validation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4C42F6-97C5-497F-A831-D9CBD5757A8B}"/>
              </a:ext>
            </a:extLst>
          </p:cNvPr>
          <p:cNvSpPr txBox="1"/>
          <p:nvPr/>
        </p:nvSpPr>
        <p:spPr>
          <a:xfrm>
            <a:off x="5454444" y="1392917"/>
            <a:ext cx="243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2D83D2-8E07-4C49-8D3E-8B22FEED1563}"/>
              </a:ext>
            </a:extLst>
          </p:cNvPr>
          <p:cNvSpPr txBox="1"/>
          <p:nvPr/>
        </p:nvSpPr>
        <p:spPr>
          <a:xfrm>
            <a:off x="7573077" y="1392917"/>
            <a:ext cx="243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3AA9C9-36DA-44D2-B966-F41F61B58C17}"/>
              </a:ext>
            </a:extLst>
          </p:cNvPr>
          <p:cNvSpPr txBox="1"/>
          <p:nvPr/>
        </p:nvSpPr>
        <p:spPr>
          <a:xfrm>
            <a:off x="9883203" y="1409954"/>
            <a:ext cx="299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-apple-system"/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74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421755" y="221767"/>
            <a:ext cx="11058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Methodology – ML-Driven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95251-F34D-4340-8036-9C1A5E8810E6}"/>
              </a:ext>
            </a:extLst>
          </p:cNvPr>
          <p:cNvSpPr txBox="1"/>
          <p:nvPr/>
        </p:nvSpPr>
        <p:spPr>
          <a:xfrm>
            <a:off x="310117" y="1203424"/>
            <a:ext cx="4587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Our Approach: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64C8BD-7717-4400-BB67-B8200468C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51" y="1203424"/>
            <a:ext cx="6799701" cy="5220329"/>
          </a:xfrm>
          <a:prstGeom prst="rect">
            <a:avLst/>
          </a:prstGeom>
        </p:spPr>
      </p:pic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B650EED-3D1C-4E5C-AA80-4BE38B348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468225"/>
              </p:ext>
            </p:extLst>
          </p:nvPr>
        </p:nvGraphicFramePr>
        <p:xfrm>
          <a:off x="421755" y="3853462"/>
          <a:ext cx="4280875" cy="2452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704">
                  <a:extLst>
                    <a:ext uri="{9D8B030D-6E8A-4147-A177-3AD203B41FA5}">
                      <a16:colId xmlns:a16="http://schemas.microsoft.com/office/drawing/2014/main" val="3890019624"/>
                    </a:ext>
                  </a:extLst>
                </a:gridCol>
                <a:gridCol w="1051799">
                  <a:extLst>
                    <a:ext uri="{9D8B030D-6E8A-4147-A177-3AD203B41FA5}">
                      <a16:colId xmlns:a16="http://schemas.microsoft.com/office/drawing/2014/main" val="3444849579"/>
                    </a:ext>
                  </a:extLst>
                </a:gridCol>
                <a:gridCol w="1071284">
                  <a:extLst>
                    <a:ext uri="{9D8B030D-6E8A-4147-A177-3AD203B41FA5}">
                      <a16:colId xmlns:a16="http://schemas.microsoft.com/office/drawing/2014/main" val="1519111362"/>
                    </a:ext>
                  </a:extLst>
                </a:gridCol>
                <a:gridCol w="984088">
                  <a:extLst>
                    <a:ext uri="{9D8B030D-6E8A-4147-A177-3AD203B41FA5}">
                      <a16:colId xmlns:a16="http://schemas.microsoft.com/office/drawing/2014/main" val="3570145238"/>
                    </a:ext>
                  </a:extLst>
                </a:gridCol>
              </a:tblGrid>
              <a:tr h="357703">
                <a:tc>
                  <a:txBody>
                    <a:bodyPr/>
                    <a:lstStyle/>
                    <a:p>
                      <a:r>
                        <a:rPr lang="en-US" sz="1600" dirty="0"/>
                        <a:t>Algorithm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Precision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F1-Score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709978"/>
                  </a:ext>
                </a:extLst>
              </a:tr>
              <a:tr h="570716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766386"/>
                  </a:ext>
                </a:extLst>
              </a:tr>
              <a:tr h="357703"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0.9956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0.9956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47556"/>
                  </a:ext>
                </a:extLst>
              </a:tr>
              <a:tr h="570716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0.9855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0.9856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96264"/>
                  </a:ext>
                </a:extLst>
              </a:tr>
              <a:tr h="570716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66D5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0.9981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66D5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0.9981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66D5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0.9981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66D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12402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EDE933E-3CC5-4613-8C0C-8066D12FB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5" y="1730643"/>
            <a:ext cx="4280874" cy="187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0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DE04BA9-BE81-493B-9437-FD2DCAEDD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534"/>
          <a:stretch/>
        </p:blipFill>
        <p:spPr>
          <a:xfrm>
            <a:off x="380204" y="1190529"/>
            <a:ext cx="6067573" cy="3392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DC4EA-49DE-483D-8DB8-2231A2F5D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14"/>
          <a:stretch/>
        </p:blipFill>
        <p:spPr>
          <a:xfrm>
            <a:off x="5715476" y="3095619"/>
            <a:ext cx="6004432" cy="33923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CBCF82-EB5F-44CB-AC75-B0E4DBE9D6AA}"/>
              </a:ext>
            </a:extLst>
          </p:cNvPr>
          <p:cNvSpPr/>
          <p:nvPr/>
        </p:nvSpPr>
        <p:spPr>
          <a:xfrm>
            <a:off x="6774873" y="1190530"/>
            <a:ext cx="4945035" cy="16961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204160-073A-456B-8152-BED8995F5497}"/>
              </a:ext>
            </a:extLst>
          </p:cNvPr>
          <p:cNvSpPr/>
          <p:nvPr/>
        </p:nvSpPr>
        <p:spPr>
          <a:xfrm>
            <a:off x="291304" y="4819372"/>
            <a:ext cx="4945035" cy="16961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D6BCD-7842-47F2-9F9B-22301DB2B51F}"/>
              </a:ext>
            </a:extLst>
          </p:cNvPr>
          <p:cNvSpPr txBox="1"/>
          <p:nvPr/>
        </p:nvSpPr>
        <p:spPr>
          <a:xfrm>
            <a:off x="380204" y="4799984"/>
            <a:ext cx="4547396" cy="167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KEMA dominates with 6 wells, while JANI has only 2. Nearly balanced with 11 undersaturated vs 9 saturated wells, indicating different depletion stages across the field. 11 naturally flowing vs 9 gas lifted wells, a fairly healthy mix suggesting the field isn't overly depleted.</a:t>
            </a:r>
            <a:endParaRPr lang="en-US" sz="1200" b="0" i="0" dirty="0">
              <a:solidFill>
                <a:srgbClr val="1A1A1A"/>
              </a:solidFill>
              <a:effectLst/>
              <a:latin typeface="-apple-syste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DB240-2B50-4D4F-B21D-99B610A255C7}"/>
              </a:ext>
            </a:extLst>
          </p:cNvPr>
          <p:cNvSpPr txBox="1"/>
          <p:nvPr/>
        </p:nvSpPr>
        <p:spPr>
          <a:xfrm>
            <a:off x="6820610" y="1190529"/>
            <a:ext cx="4899297" cy="167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10 wells above solution GOR (</a:t>
            </a:r>
            <a:r>
              <a:rPr lang="en-US" sz="1400" dirty="0" err="1"/>
              <a:t>aSolGOR</a:t>
            </a:r>
            <a:r>
              <a:rPr lang="en-US" sz="1400" dirty="0"/>
              <a:t>) vs 9 below (</a:t>
            </a:r>
            <a:r>
              <a:rPr lang="en-US" sz="1400" dirty="0" err="1"/>
              <a:t>bSolGOR</a:t>
            </a:r>
            <a:r>
              <a:rPr lang="en-US" sz="1400" dirty="0"/>
              <a:t>), with only 1 showing mixed behavior. 12 wells (60%) show increasing </a:t>
            </a:r>
            <a:r>
              <a:rPr lang="en-US" sz="1400" dirty="0" err="1"/>
              <a:t>watercut</a:t>
            </a:r>
            <a:r>
              <a:rPr lang="en-US" sz="1400" dirty="0"/>
              <a:t>, while only 6 maintain flat trends. This fits with the water breakthrough issues seen in the production profiles. </a:t>
            </a:r>
            <a:endParaRPr lang="en-US" sz="1200" b="0" i="0" dirty="0">
              <a:solidFill>
                <a:srgbClr val="1A1A1A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9424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981635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A2811B-7444-475E-9BCF-1BB74C1AF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60346"/>
              </p:ext>
            </p:extLst>
          </p:nvPr>
        </p:nvGraphicFramePr>
        <p:xfrm>
          <a:off x="644236" y="1350920"/>
          <a:ext cx="4993050" cy="31089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98610">
                  <a:extLst>
                    <a:ext uri="{9D8B030D-6E8A-4147-A177-3AD203B41FA5}">
                      <a16:colId xmlns:a16="http://schemas.microsoft.com/office/drawing/2014/main" val="1223212486"/>
                    </a:ext>
                  </a:extLst>
                </a:gridCol>
                <a:gridCol w="998610">
                  <a:extLst>
                    <a:ext uri="{9D8B030D-6E8A-4147-A177-3AD203B41FA5}">
                      <a16:colId xmlns:a16="http://schemas.microsoft.com/office/drawing/2014/main" val="801923835"/>
                    </a:ext>
                  </a:extLst>
                </a:gridCol>
                <a:gridCol w="998610">
                  <a:extLst>
                    <a:ext uri="{9D8B030D-6E8A-4147-A177-3AD203B41FA5}">
                      <a16:colId xmlns:a16="http://schemas.microsoft.com/office/drawing/2014/main" val="3604934392"/>
                    </a:ext>
                  </a:extLst>
                </a:gridCol>
                <a:gridCol w="998610">
                  <a:extLst>
                    <a:ext uri="{9D8B030D-6E8A-4147-A177-3AD203B41FA5}">
                      <a16:colId xmlns:a16="http://schemas.microsoft.com/office/drawing/2014/main" val="3086201722"/>
                    </a:ext>
                  </a:extLst>
                </a:gridCol>
                <a:gridCol w="998610">
                  <a:extLst>
                    <a:ext uri="{9D8B030D-6E8A-4147-A177-3AD203B41FA5}">
                      <a16:colId xmlns:a16="http://schemas.microsoft.com/office/drawing/2014/main" val="1732434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Reservoir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Wells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Oil (Million STB)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Total Oil (Million RB)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FVF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49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ACHI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1.30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522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1.74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00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JANI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0.28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60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3.05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214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1.11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4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20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7.48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44130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B28E8F7B-B169-425A-A541-C61B897C85A8}"/>
              </a:ext>
            </a:extLst>
          </p:cNvPr>
          <p:cNvGrpSpPr/>
          <p:nvPr/>
        </p:nvGrpSpPr>
        <p:grpSpPr>
          <a:xfrm>
            <a:off x="644237" y="4794184"/>
            <a:ext cx="4993050" cy="1425792"/>
            <a:chOff x="1847085" y="1853759"/>
            <a:chExt cx="4383383" cy="102774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79E4C1-970D-4946-A2C6-EDDA458AC539}"/>
                </a:ext>
              </a:extLst>
            </p:cNvPr>
            <p:cNvSpPr/>
            <p:nvPr/>
          </p:nvSpPr>
          <p:spPr>
            <a:xfrm>
              <a:off x="1847085" y="1859532"/>
              <a:ext cx="4383383" cy="10219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233DD6-B89D-44EF-BEBF-166482917D95}"/>
                </a:ext>
              </a:extLst>
            </p:cNvPr>
            <p:cNvSpPr/>
            <p:nvPr/>
          </p:nvSpPr>
          <p:spPr>
            <a:xfrm>
              <a:off x="1847085" y="1853759"/>
              <a:ext cx="48951" cy="102197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4460B5D-956B-4257-AED8-8313C7DB4A75}"/>
              </a:ext>
            </a:extLst>
          </p:cNvPr>
          <p:cNvSpPr txBox="1"/>
          <p:nvPr/>
        </p:nvSpPr>
        <p:spPr>
          <a:xfrm>
            <a:off x="914910" y="5032725"/>
            <a:ext cx="409255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estimate of the total oil produced (in reservoir barrels) from all 5 reservoirs is </a:t>
            </a:r>
            <a:r>
              <a:rPr lang="en-US" sz="1600" b="1" dirty="0"/>
              <a:t>7.48 </a:t>
            </a:r>
            <a:r>
              <a:rPr lang="en-US" sz="1600" b="1" i="0" dirty="0">
                <a:solidFill>
                  <a:srgbClr val="1A1A1A"/>
                </a:solidFill>
                <a:effectLst/>
                <a:latin typeface="-apple-system"/>
              </a:rPr>
              <a:t>Million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E2CE91-7C30-437F-A72A-857AE6EFB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200" y="1350920"/>
            <a:ext cx="5928496" cy="413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31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732AA5-940F-4C6E-996B-EE19C16ED508}"/>
              </a:ext>
            </a:extLst>
          </p:cNvPr>
          <p:cNvSpPr txBox="1"/>
          <p:nvPr/>
        </p:nvSpPr>
        <p:spPr>
          <a:xfrm>
            <a:off x="764196" y="187966"/>
            <a:ext cx="10603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C3E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Contribution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7C106C-50F3-45F2-9C3E-0117022E531F}"/>
              </a:ext>
            </a:extLst>
          </p:cNvPr>
          <p:cNvCxnSpPr>
            <a:cxnSpLocks/>
          </p:cNvCxnSpPr>
          <p:nvPr/>
        </p:nvCxnSpPr>
        <p:spPr>
          <a:xfrm>
            <a:off x="764196" y="884653"/>
            <a:ext cx="1081763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21CDFC7-E583-4783-AF21-E1927416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731" y="1114175"/>
            <a:ext cx="6786740" cy="555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7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692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Figtree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Hussaini Ahmed</dc:creator>
  <cp:lastModifiedBy>Hussaini Ahmed</cp:lastModifiedBy>
  <cp:revision>106</cp:revision>
  <dcterms:created xsi:type="dcterms:W3CDTF">2025-07-02T15:32:29Z</dcterms:created>
  <dcterms:modified xsi:type="dcterms:W3CDTF">2025-07-28T14:15:55Z</dcterms:modified>
</cp:coreProperties>
</file>